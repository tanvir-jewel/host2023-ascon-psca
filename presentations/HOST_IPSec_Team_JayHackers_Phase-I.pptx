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26" r:id="rId1"/>
    <p:sldMasterId id="2147483738" r:id="rId2"/>
  </p:sldMasterIdLst>
  <p:notesMasterIdLst>
    <p:notesMasterId r:id="rId17"/>
  </p:notesMasterIdLst>
  <p:handoutMasterIdLst>
    <p:handoutMasterId r:id="rId18"/>
  </p:handoutMasterIdLst>
  <p:sldIdLst>
    <p:sldId id="256" r:id="rId3"/>
    <p:sldId id="507" r:id="rId4"/>
    <p:sldId id="547" r:id="rId5"/>
    <p:sldId id="556" r:id="rId6"/>
    <p:sldId id="557" r:id="rId7"/>
    <p:sldId id="554" r:id="rId8"/>
    <p:sldId id="551" r:id="rId9"/>
    <p:sldId id="558" r:id="rId10"/>
    <p:sldId id="559" r:id="rId11"/>
    <p:sldId id="560" r:id="rId12"/>
    <p:sldId id="561" r:id="rId13"/>
    <p:sldId id="448" r:id="rId14"/>
    <p:sldId id="500" r:id="rId15"/>
    <p:sldId id="54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C48300"/>
    <a:srgbClr val="FF66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2DD7A-52D0-D558-AE01-809643441DF6}" v="4" dt="2023-03-16T04:16:07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3905" autoAdjust="0"/>
  </p:normalViewPr>
  <p:slideViewPr>
    <p:cSldViewPr snapToGrid="0">
      <p:cViewPr varScale="1">
        <p:scale>
          <a:sx n="92" d="100"/>
          <a:sy n="92" d="100"/>
        </p:scale>
        <p:origin x="197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740A4-06D4-48A4-B3BD-0BE035CF8CBC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66AD5-C128-4CBD-A694-9FFA39B8F6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31731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7226F-D391-41D2-945F-911A891AA6DE}" type="datetimeFigureOut">
              <a:rPr lang="en-US" smtClean="0"/>
              <a:t>3/16/2023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3256D-AC94-42B4-ABC1-A1546FF84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81890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30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223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615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14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515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043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968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091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19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286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36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614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386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639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60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793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9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1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08213" y="6454374"/>
            <a:ext cx="10811434" cy="324356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11992" y="6446897"/>
            <a:ext cx="500110" cy="339310"/>
          </a:xfrm>
        </p:spPr>
        <p:txBody>
          <a:bodyPr/>
          <a:lstStyle>
            <a:lvl1pPr>
              <a:defRPr sz="1800"/>
            </a:lvl1pPr>
          </a:lstStyle>
          <a:p>
            <a:fld id="{B19ACDB2-B38F-479D-AACF-64582E516DF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 descr="Georgia Tech official logo"/>
          <p:cNvPicPr>
            <a:picLocks noChangeAspect="1" noChangeArrowheads="1"/>
          </p:cNvPicPr>
          <p:nvPr userDrawn="1"/>
        </p:nvPicPr>
        <p:blipFill rotWithShape="1"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4"/>
          <a:stretch/>
        </p:blipFill>
        <p:spPr bwMode="auto">
          <a:xfrm>
            <a:off x="568855" y="6453805"/>
            <a:ext cx="939905" cy="40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/>
          <p:cNvCxnSpPr/>
          <p:nvPr userDrawn="1"/>
        </p:nvCxnSpPr>
        <p:spPr>
          <a:xfrm flipV="1">
            <a:off x="0" y="6422791"/>
            <a:ext cx="12192000" cy="88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173" y="6487427"/>
            <a:ext cx="476510" cy="33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4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023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81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5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045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A shield surrounded by several iconic representations of devices that will use lightweight crypto, all on a blue backgrou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754" y="0"/>
            <a:ext cx="1225157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8808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21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00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38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98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25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64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573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82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35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08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05447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34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08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74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6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7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30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Team JayHackers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ACDB2-B38F-479D-AACF-64582E516D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27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thehackernews.com/2023/02/nist-standardizes-ascon-cryptographic.html" TargetMode="External"/><Relationship Id="rId13" Type="http://schemas.openxmlformats.org/officeDocument/2006/relationships/hyperlink" Target="https://www.youtube.com/watch?v=YIjiTB9ZxYw" TargetMode="External"/><Relationship Id="rId3" Type="http://schemas.openxmlformats.org/officeDocument/2006/relationships/hyperlink" Target="https://www.riscure.com/security-highlight-ascon/" TargetMode="External"/><Relationship Id="rId7" Type="http://schemas.openxmlformats.org/officeDocument/2006/relationships/hyperlink" Target="https://www.rambus.com/blogs/rambus-ip-solution-supports-new-nist-lightweight-cryptography-algorithm/" TargetMode="External"/><Relationship Id="rId12" Type="http://schemas.openxmlformats.org/officeDocument/2006/relationships/hyperlink" Target="https://keccak.team/sponge_dupl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ist.gov/news-events/news/2018/04/nist-issues-first-call-lightweight-cryptography-protect-small-electronics" TargetMode="External"/><Relationship Id="rId11" Type="http://schemas.openxmlformats.org/officeDocument/2006/relationships/hyperlink" Target="https://medium.com/asecuritysite-when-bob-met-alice/one-of-the-greatest-advancements-in-cybersecurity-the-sponge-function-keccak-and-shake-6e6c8e298682" TargetMode="External"/><Relationship Id="rId5" Type="http://schemas.openxmlformats.org/officeDocument/2006/relationships/hyperlink" Target="https://www.nist.gov/news-events/news/2023/02/nist-selects-lightweight-cryptography-algorithms-protect-small-devices" TargetMode="External"/><Relationship Id="rId10" Type="http://schemas.openxmlformats.org/officeDocument/2006/relationships/hyperlink" Target="https://csrc.nist.gov/CSRC/media/Projects/lightweight-cryptography/documents/finalist-round/updated-spec-doc/ascon-spec-final.pdf" TargetMode="External"/><Relationship Id="rId4" Type="http://schemas.openxmlformats.org/officeDocument/2006/relationships/hyperlink" Target="https://csrc.nist.gov/News/2023/lightweight-cryptography-nist-selects-ascon" TargetMode="External"/><Relationship Id="rId9" Type="http://schemas.openxmlformats.org/officeDocument/2006/relationships/hyperlink" Target="https://ascon.iaik.tugraz.at/specification.html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mmoh/bluelight/tree/api3/Ascon" TargetMode="External"/><Relationship Id="rId3" Type="http://schemas.openxmlformats.org/officeDocument/2006/relationships/hyperlink" Target="https://www.youtube.com/watch?v=rC4Ib6T-qm4" TargetMode="External"/><Relationship Id="rId7" Type="http://schemas.openxmlformats.org/officeDocument/2006/relationships/hyperlink" Target="https://github.com/GMUCERG/Asc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vtsal/ascon_lwc_aead_hash" TargetMode="External"/><Relationship Id="rId5" Type="http://schemas.openxmlformats.org/officeDocument/2006/relationships/hyperlink" Target="https://github.com/ascon/ascon-hardware" TargetMode="External"/><Relationship Id="rId4" Type="http://schemas.openxmlformats.org/officeDocument/2006/relationships/hyperlink" Target="https://github.com/Steinegger/riscv_asconp_accelerator" TargetMode="External"/><Relationship Id="rId9" Type="http://schemas.openxmlformats.org/officeDocument/2006/relationships/hyperlink" Target="https://github.com/IAIK/ascon_hardware/tree/master/caesar_hardware_api_v_1_0_3/ASCON_ASCO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Georgia Tech official logo"/>
          <p:cNvPicPr>
            <a:picLocks noChangeAspect="1" noChangeArrowheads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732" y="6076102"/>
            <a:ext cx="1749286" cy="739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077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184882"/>
            <a:ext cx="884583" cy="630877"/>
          </a:xfrm>
          <a:prstGeom prst="rect">
            <a:avLst/>
          </a:prstGeom>
          <a:noFill/>
        </p:spPr>
      </p:pic>
      <p:sp>
        <p:nvSpPr>
          <p:cNvPr id="21" name="Freeform 20"/>
          <p:cNvSpPr/>
          <p:nvPr/>
        </p:nvSpPr>
        <p:spPr>
          <a:xfrm>
            <a:off x="3711343" y="918021"/>
            <a:ext cx="3787218" cy="5158081"/>
          </a:xfrm>
          <a:custGeom>
            <a:avLst/>
            <a:gdLst>
              <a:gd name="connsiteX0" fmla="*/ 1465082 w 2930165"/>
              <a:gd name="connsiteY0" fmla="*/ 0 h 3038179"/>
              <a:gd name="connsiteX1" fmla="*/ 1523178 w 2930165"/>
              <a:gd name="connsiteY1" fmla="*/ 74288 h 3038179"/>
              <a:gd name="connsiteX2" fmla="*/ 2672498 w 2930165"/>
              <a:gd name="connsiteY2" fmla="*/ 592565 h 3038179"/>
              <a:gd name="connsiteX3" fmla="*/ 2824784 w 2930165"/>
              <a:gd name="connsiteY3" fmla="*/ 585212 h 3038179"/>
              <a:gd name="connsiteX4" fmla="*/ 2888778 w 2930165"/>
              <a:gd name="connsiteY4" fmla="*/ 575873 h 3038179"/>
              <a:gd name="connsiteX5" fmla="*/ 2902432 w 2930165"/>
              <a:gd name="connsiteY5" fmla="*/ 644083 h 3038179"/>
              <a:gd name="connsiteX6" fmla="*/ 2930165 w 2930165"/>
              <a:gd name="connsiteY6" fmla="*/ 995356 h 3038179"/>
              <a:gd name="connsiteX7" fmla="*/ 1486229 w 2930165"/>
              <a:gd name="connsiteY7" fmla="*/ 3032535 h 3038179"/>
              <a:gd name="connsiteX8" fmla="*/ 1465083 w 2930165"/>
              <a:gd name="connsiteY8" fmla="*/ 3038179 h 3038179"/>
              <a:gd name="connsiteX9" fmla="*/ 1443936 w 2930165"/>
              <a:gd name="connsiteY9" fmla="*/ 3032535 h 3038179"/>
              <a:gd name="connsiteX10" fmla="*/ 0 w 2930165"/>
              <a:gd name="connsiteY10" fmla="*/ 995356 h 3038179"/>
              <a:gd name="connsiteX11" fmla="*/ 27733 w 2930165"/>
              <a:gd name="connsiteY11" fmla="*/ 644083 h 3038179"/>
              <a:gd name="connsiteX12" fmla="*/ 41388 w 2930165"/>
              <a:gd name="connsiteY12" fmla="*/ 575873 h 3038179"/>
              <a:gd name="connsiteX13" fmla="*/ 105379 w 2930165"/>
              <a:gd name="connsiteY13" fmla="*/ 585212 h 3038179"/>
              <a:gd name="connsiteX14" fmla="*/ 257665 w 2930165"/>
              <a:gd name="connsiteY14" fmla="*/ 592565 h 3038179"/>
              <a:gd name="connsiteX15" fmla="*/ 1406985 w 2930165"/>
              <a:gd name="connsiteY15" fmla="*/ 74288 h 3038179"/>
              <a:gd name="connsiteX16" fmla="*/ 1465082 w 2930165"/>
              <a:gd name="connsiteY16" fmla="*/ 0 h 3038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930165" h="3038179">
                <a:moveTo>
                  <a:pt x="1465082" y="0"/>
                </a:moveTo>
                <a:lnTo>
                  <a:pt x="1523178" y="74288"/>
                </a:lnTo>
                <a:cubicBezTo>
                  <a:pt x="1796362" y="390813"/>
                  <a:pt x="2209790" y="592565"/>
                  <a:pt x="2672498" y="592565"/>
                </a:cubicBezTo>
                <a:cubicBezTo>
                  <a:pt x="2723910" y="592565"/>
                  <a:pt x="2774714" y="590074"/>
                  <a:pt x="2824784" y="585212"/>
                </a:cubicBezTo>
                <a:lnTo>
                  <a:pt x="2888778" y="575873"/>
                </a:lnTo>
                <a:lnTo>
                  <a:pt x="2902432" y="644083"/>
                </a:lnTo>
                <a:cubicBezTo>
                  <a:pt x="2920675" y="758362"/>
                  <a:pt x="2930165" y="875709"/>
                  <a:pt x="2930165" y="995356"/>
                </a:cubicBezTo>
                <a:cubicBezTo>
                  <a:pt x="2930165" y="1952535"/>
                  <a:pt x="2322773" y="2762463"/>
                  <a:pt x="1486229" y="3032535"/>
                </a:cubicBezTo>
                <a:lnTo>
                  <a:pt x="1465083" y="3038179"/>
                </a:lnTo>
                <a:lnTo>
                  <a:pt x="1443936" y="3032535"/>
                </a:lnTo>
                <a:cubicBezTo>
                  <a:pt x="607393" y="2762463"/>
                  <a:pt x="0" y="1952535"/>
                  <a:pt x="0" y="995356"/>
                </a:cubicBezTo>
                <a:cubicBezTo>
                  <a:pt x="0" y="875709"/>
                  <a:pt x="9491" y="758362"/>
                  <a:pt x="27733" y="644083"/>
                </a:cubicBezTo>
                <a:lnTo>
                  <a:pt x="41388" y="575873"/>
                </a:lnTo>
                <a:lnTo>
                  <a:pt x="105379" y="585212"/>
                </a:lnTo>
                <a:cubicBezTo>
                  <a:pt x="155450" y="590074"/>
                  <a:pt x="206253" y="592565"/>
                  <a:pt x="257665" y="592565"/>
                </a:cubicBezTo>
                <a:cubicBezTo>
                  <a:pt x="720373" y="592565"/>
                  <a:pt x="1133801" y="390813"/>
                  <a:pt x="1406985" y="74288"/>
                </a:cubicBezTo>
                <a:lnTo>
                  <a:pt x="1465082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875851" y="2428914"/>
            <a:ext cx="3458202" cy="2077278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</a:rPr>
              <a:t>Team </a:t>
            </a:r>
            <a:r>
              <a:rPr lang="en-US" sz="3000" b="1" dirty="0" err="1">
                <a:solidFill>
                  <a:schemeClr val="bg1"/>
                </a:solidFill>
              </a:rPr>
              <a:t>JayHackers</a:t>
            </a:r>
            <a:r>
              <a:rPr lang="en-US" sz="2600" b="1" dirty="0">
                <a:solidFill>
                  <a:schemeClr val="bg1"/>
                </a:solidFill>
              </a:rPr>
              <a:t/>
            </a:r>
            <a:br>
              <a:rPr lang="en-US" sz="2600" b="1" dirty="0">
                <a:solidFill>
                  <a:schemeClr val="bg1"/>
                </a:solidFill>
              </a:rPr>
            </a:br>
            <a:r>
              <a:rPr lang="en-US" sz="2600" b="1" dirty="0">
                <a:solidFill>
                  <a:schemeClr val="bg1"/>
                </a:solidFill>
              </a:rPr>
              <a:t/>
            </a:r>
            <a:br>
              <a:rPr lang="en-US" sz="2600" b="1" dirty="0">
                <a:solidFill>
                  <a:schemeClr val="bg1"/>
                </a:solidFill>
              </a:rPr>
            </a:br>
            <a:r>
              <a:rPr lang="en-US" sz="2000" dirty="0" err="1">
                <a:solidFill>
                  <a:schemeClr val="bg1"/>
                </a:solidFill>
              </a:rPr>
              <a:t>Tanvir</a:t>
            </a:r>
            <a:r>
              <a:rPr lang="en-US" sz="2000" dirty="0">
                <a:solidFill>
                  <a:schemeClr val="bg1"/>
                </a:solidFill>
              </a:rPr>
              <a:t> Hossain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 err="1">
                <a:solidFill>
                  <a:schemeClr val="bg1"/>
                </a:solidFill>
              </a:rPr>
              <a:t>Mahmudul</a:t>
            </a:r>
            <a:r>
              <a:rPr lang="en-US" sz="2000" dirty="0">
                <a:solidFill>
                  <a:schemeClr val="bg1"/>
                </a:solidFill>
              </a:rPr>
              <a:t> Hasan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Anupam Golder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Zachary J Ellis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 err="1">
                <a:solidFill>
                  <a:schemeClr val="bg1"/>
                </a:solidFill>
              </a:rPr>
              <a:t>Arijit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Raychowdhury</a:t>
            </a:r>
            <a:r>
              <a:rPr lang="en-US" sz="2000" dirty="0">
                <a:solidFill>
                  <a:schemeClr val="bg1"/>
                </a:solidFill>
              </a:rPr>
              <a:t/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 err="1">
                <a:solidFill>
                  <a:schemeClr val="bg1"/>
                </a:solidFill>
              </a:rPr>
              <a:t>Tamzidul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Hoque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26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96"/>
    </mc:Choice>
    <mc:Fallback xmlns="">
      <p:transition spd="slow" advTm="2159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HOST IP Security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20" y="873238"/>
            <a:ext cx="12039159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4 phases </a:t>
            </a:r>
            <a:r>
              <a:rPr lang="en-US" sz="2000" dirty="0">
                <a:cs typeface="Arial" panose="020B0604020202020204" pitchFamily="34" charset="0"/>
              </a:rPr>
              <a:t>of </a:t>
            </a:r>
            <a:r>
              <a:rPr lang="en-US" sz="2000" b="1" dirty="0">
                <a:cs typeface="Arial" panose="020B0604020202020204" pitchFamily="34" charset="0"/>
              </a:rPr>
              <a:t>AEAD</a:t>
            </a:r>
            <a:r>
              <a:rPr lang="en-US" sz="2000" dirty="0">
                <a:cs typeface="Arial" panose="020B0604020202020204" pitchFamily="34" charset="0"/>
              </a:rPr>
              <a:t>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Keyed </a:t>
            </a:r>
            <a:r>
              <a:rPr lang="en-US" sz="2000" b="1" dirty="0">
                <a:cs typeface="Arial" panose="020B0604020202020204" pitchFamily="34" charset="0"/>
              </a:rPr>
              <a:t>INITIALIZATION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Associated Data </a:t>
            </a:r>
            <a:r>
              <a:rPr lang="en-US" sz="2000" b="1" dirty="0">
                <a:cs typeface="Arial" panose="020B0604020202020204" pitchFamily="34" charset="0"/>
              </a:rPr>
              <a:t>ABSORPTION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Plaintext </a:t>
            </a:r>
            <a:r>
              <a:rPr lang="en-US" sz="2000" b="1" dirty="0">
                <a:cs typeface="Arial" panose="020B0604020202020204" pitchFamily="34" charset="0"/>
              </a:rPr>
              <a:t>ENCRYPTION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Keyed</a:t>
            </a:r>
            <a:r>
              <a:rPr lang="en-US" sz="2000" b="1" dirty="0">
                <a:cs typeface="Arial" panose="020B0604020202020204" pitchFamily="34" charset="0"/>
              </a:rPr>
              <a:t> FINALIZATION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ASCON’s Authenticated Encryption with Associated Data (ASCON_AEAD) [ASCON21]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5500"/>
            <a:ext cx="12000190" cy="351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31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Power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20" y="873238"/>
            <a:ext cx="12039159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Measurement setup: </a:t>
            </a:r>
            <a:r>
              <a:rPr lang="en-US" sz="2000" dirty="0" err="1">
                <a:cs typeface="Arial" panose="020B0604020202020204" pitchFamily="34" charset="0"/>
              </a:rPr>
              <a:t>ChipWhisperer</a:t>
            </a:r>
            <a:r>
              <a:rPr lang="en-US" sz="2000" dirty="0">
                <a:cs typeface="Arial" panose="020B0604020202020204" pitchFamily="34" charset="0"/>
              </a:rPr>
              <a:t> toolchain, AMD/Xilinx </a:t>
            </a:r>
            <a:r>
              <a:rPr lang="en-US" sz="2000" b="1" dirty="0">
                <a:cs typeface="Arial" panose="020B0604020202020204" pitchFamily="34" charset="0"/>
              </a:rPr>
              <a:t>Artix-7</a:t>
            </a:r>
            <a:r>
              <a:rPr lang="en-US" sz="2000" dirty="0">
                <a:cs typeface="Arial" panose="020B0604020202020204" pitchFamily="34" charset="0"/>
              </a:rPr>
              <a:t> FPGA-based SCA evaluation board, </a:t>
            </a:r>
            <a:r>
              <a:rPr lang="en-US" sz="2000" b="1" dirty="0">
                <a:cs typeface="Arial" panose="020B0604020202020204" pitchFamily="34" charset="0"/>
              </a:rPr>
              <a:t>10MHz</a:t>
            </a:r>
            <a:r>
              <a:rPr lang="en-US" sz="2000" dirty="0">
                <a:cs typeface="Arial" panose="020B0604020202020204" pitchFamily="34" charset="0"/>
              </a:rPr>
              <a:t> </a:t>
            </a:r>
            <a:r>
              <a:rPr lang="en-US" sz="2000" dirty="0" err="1">
                <a:cs typeface="Arial" panose="020B0604020202020204" pitchFamily="34" charset="0"/>
              </a:rPr>
              <a:t>CryptoCore</a:t>
            </a:r>
            <a:r>
              <a:rPr lang="en-US" sz="2000" dirty="0">
                <a:cs typeface="Arial" panose="020B0604020202020204" pitchFamily="34" charset="0"/>
              </a:rPr>
              <a:t> frequency, </a:t>
            </a:r>
            <a:r>
              <a:rPr lang="en-US" sz="2000" b="1" dirty="0">
                <a:cs typeface="Arial" panose="020B0604020202020204" pitchFamily="34" charset="0"/>
              </a:rPr>
              <a:t>40MHz sampling </a:t>
            </a:r>
            <a:r>
              <a:rPr lang="en-US" sz="2000" dirty="0">
                <a:cs typeface="Arial" panose="020B0604020202020204" pitchFamily="34" charset="0"/>
              </a:rPr>
              <a:t>frequency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Visible peaks </a:t>
            </a:r>
            <a:r>
              <a:rPr lang="en-US" sz="2000" dirty="0">
                <a:cs typeface="Arial" panose="020B0604020202020204" pitchFamily="34" charset="0"/>
              </a:rPr>
              <a:t>during </a:t>
            </a:r>
            <a:r>
              <a:rPr lang="en-US" sz="2000" b="1" dirty="0">
                <a:cs typeface="Arial" panose="020B0604020202020204" pitchFamily="34" charset="0"/>
              </a:rPr>
              <a:t>register updates </a:t>
            </a:r>
            <a:r>
              <a:rPr 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Cycle count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Parallel execution </a:t>
            </a:r>
            <a:r>
              <a:rPr 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on 320-bit state + </a:t>
            </a: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Constant-time</a:t>
            </a:r>
            <a:r>
              <a:rPr 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 implementation  </a:t>
            </a: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Visually indistinguishable</a:t>
            </a:r>
            <a:r>
              <a:rPr 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 data-dependent leakage from single measurement</a:t>
            </a: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Simple Power Analysis (SPA) of INITIALIZATION Phase of ASCON_AEAD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048" y="2907654"/>
            <a:ext cx="4602054" cy="3546720"/>
          </a:xfrm>
          <a:prstGeom prst="rect">
            <a:avLst/>
          </a:prstGeom>
        </p:spPr>
      </p:pic>
      <p:pic>
        <p:nvPicPr>
          <p:cNvPr id="3" name="Picture 6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56FBEA64-94E7-F7F5-EADE-FDCBE59EC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3" y="3176906"/>
            <a:ext cx="7395883" cy="26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6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Power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6420" y="873238"/>
                <a:ext cx="12039159" cy="13234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INITIALIZATION</a:t>
                </a:r>
                <a:r>
                  <a:rPr lang="en-US" sz="2000" dirty="0">
                    <a:cs typeface="Arial" panose="020B0604020202020204" pitchFamily="34" charset="0"/>
                  </a:rPr>
                  <a:t> phase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state</a:t>
                </a:r>
                <a:r>
                  <a:rPr lang="en-US" sz="2000" dirty="0">
                    <a:cs typeface="Arial" panose="020B0604020202020204" pitchFamily="34" charset="0"/>
                  </a:rPr>
                  <a:t> initialized with a </a:t>
                </a:r>
                <a:r>
                  <a:rPr lang="en-US" sz="2000" b="1" dirty="0">
                    <a:cs typeface="Arial" panose="020B0604020202020204" pitchFamily="34" charset="0"/>
                  </a:rPr>
                  <a:t>64-bit </a:t>
                </a:r>
                <a:r>
                  <a:rPr lang="en-US" sz="2000" dirty="0">
                    <a:cs typeface="Arial" panose="020B0604020202020204" pitchFamily="34" charset="0"/>
                  </a:rPr>
                  <a:t>fixed and known initialization vector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𝑰𝑽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, a </a:t>
                </a:r>
                <a:r>
                  <a:rPr lang="en-US" sz="2000" b="1" dirty="0">
                    <a:cs typeface="Arial" panose="020B0604020202020204" pitchFamily="34" charset="0"/>
                  </a:rPr>
                  <a:t>128-bit secret key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𝑲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, and a </a:t>
                </a:r>
                <a:r>
                  <a:rPr lang="en-US" sz="2000" b="1" dirty="0">
                    <a:cs typeface="Arial" panose="020B0604020202020204" pitchFamily="34" charset="0"/>
                  </a:rPr>
                  <a:t>128-bit </a:t>
                </a:r>
                <a:r>
                  <a:rPr lang="en-US" sz="2000" dirty="0">
                    <a:cs typeface="Arial" panose="020B0604020202020204" pitchFamily="34" charset="0"/>
                  </a:rPr>
                  <a:t>random but public </a:t>
                </a:r>
                <a:r>
                  <a:rPr lang="en-US" sz="2000" b="1" dirty="0">
                    <a:cs typeface="Arial" panose="020B0604020202020204" pitchFamily="34" charset="0"/>
                  </a:rPr>
                  <a:t>nonce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𝑵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Assumption: </a:t>
                </a:r>
                <a:r>
                  <a:rPr lang="en-US" sz="2000" dirty="0">
                    <a:cs typeface="Arial" panose="020B0604020202020204" pitchFamily="34" charset="0"/>
                  </a:rPr>
                  <a:t>non-repeating</a:t>
                </a:r>
                <a:r>
                  <a:rPr lang="en-US" sz="2000" b="1" dirty="0"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cs typeface="Arial" panose="020B0604020202020204" pitchFamily="34" charset="0"/>
                  </a:rPr>
                  <a:t>but </a:t>
                </a:r>
                <a:r>
                  <a:rPr lang="en-US" sz="2000" b="1" dirty="0">
                    <a:cs typeface="Arial" panose="020B0604020202020204" pitchFamily="34" charset="0"/>
                  </a:rPr>
                  <a:t>attacker controllable nonce</a:t>
                </a:r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(i.e., nonce-respecting scenario).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Attack point:</a:t>
                </a:r>
                <a:r>
                  <a:rPr lang="en-US" sz="2000" dirty="0">
                    <a:cs typeface="Arial" panose="020B0604020202020204" pitchFamily="34" charset="0"/>
                  </a:rPr>
                  <a:t> The </a:t>
                </a:r>
                <a:r>
                  <a:rPr lang="en-US" sz="2000" b="1" dirty="0">
                    <a:cs typeface="Arial" panose="020B0604020202020204" pitchFamily="34" charset="0"/>
                  </a:rPr>
                  <a:t>first round of permutation </a:t>
                </a:r>
                <a:r>
                  <a:rPr lang="en-US" sz="2000" dirty="0">
                    <a:cs typeface="Arial" panose="020B0604020202020204" pitchFamily="34" charset="0"/>
                  </a:rPr>
                  <a:t>of</a:t>
                </a:r>
                <a:r>
                  <a:rPr lang="en-US" sz="2000" b="1" dirty="0">
                    <a:cs typeface="Arial" panose="020B0604020202020204" pitchFamily="34" charset="0"/>
                  </a:rPr>
                  <a:t> INITIALIZATION </a:t>
                </a:r>
                <a:r>
                  <a:rPr lang="en-US" sz="2000" dirty="0">
                    <a:cs typeface="Arial" panose="020B0604020202020204" pitchFamily="34" charset="0"/>
                  </a:rPr>
                  <a:t>phase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" y="873238"/>
                <a:ext cx="12039159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Differential Power Analysis (DPA) Attack on INITIALIZATION Phase of ASCON_AEAD [S16]: Threat Model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3099899"/>
            <a:ext cx="2633005" cy="245125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628" y="3288137"/>
            <a:ext cx="9570034" cy="20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5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Power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DPA Attack on INITIALIZATION Phase of ASCON_AEAD [S16]: Selection Functions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420" y="873238"/>
                <a:ext cx="12039159" cy="10156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: secret key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𝐾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register bits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: nonce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register bits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         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𝐼𝑉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register bits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" y="873238"/>
                <a:ext cx="12039159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407" y="1930523"/>
                <a:ext cx="1211210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𝑆𝑏𝑜𝑥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7" y="1930523"/>
                <a:ext cx="12112102" cy="707886"/>
              </a:xfrm>
              <a:prstGeom prst="rect">
                <a:avLst/>
              </a:prstGeom>
              <a:blipFill>
                <a:blip r:embed="rId4"/>
                <a:stretch>
                  <a:fillRect l="-252" b="-6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57879" y="2746131"/>
            <a:ext cx="1203915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Highlighted in blue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Constant </a:t>
            </a:r>
            <a:r>
              <a:rPr 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register </a:t>
            </a: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activity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1407" y="3177019"/>
                <a:ext cx="12112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7" y="3177019"/>
                <a:ext cx="12112102" cy="400110"/>
              </a:xfrm>
              <a:prstGeom prst="rect">
                <a:avLst/>
              </a:prstGeom>
              <a:blipFill>
                <a:blip r:embed="rId5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8058" y="3593670"/>
                <a:ext cx="12039159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cs typeface="Arial" panose="020B0604020202020204" pitchFamily="34" charset="0"/>
                  </a:rPr>
                  <a:t>Intermediate value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2 bits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from two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nonce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registers,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1 bit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from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key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8" y="3593670"/>
                <a:ext cx="1203915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472" y="4008882"/>
                <a:ext cx="12039158" cy="1008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1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brk m:alnAt="1"/>
                            </m:r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1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 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⋙19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⋙28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64+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−19+64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64+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−19+64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−19+64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−28+64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−28+64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−28+64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2" y="4008882"/>
                <a:ext cx="12039158" cy="1008033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988" y="5062755"/>
                <a:ext cx="12039159" cy="10156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Effect of diffusion layer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 Selection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𝑺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𝑵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,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𝑲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to split traces based on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-</a:t>
                </a:r>
                <a:r>
                  <a:rPr lang="en-US" sz="2000" b="1" dirty="0" err="1">
                    <a:cs typeface="Arial" panose="020B0604020202020204" pitchFamily="34" charset="0"/>
                    <a:sym typeface="Wingdings" panose="05000000000000000000" pitchFamily="2" charset="2"/>
                  </a:rPr>
                  <a:t>th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bit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register update depends on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3 bits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of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key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and </a:t>
                </a:r>
                <a:r>
                  <a:rPr lang="en-US" sz="2000" b="1" dirty="0">
                    <a:cs typeface="Arial" panose="020B0604020202020204" pitchFamily="34" charset="0"/>
                  </a:rPr>
                  <a:t>6 bits </a:t>
                </a:r>
                <a:r>
                  <a:rPr lang="en-US" sz="2000" dirty="0">
                    <a:cs typeface="Arial" panose="020B0604020202020204" pitchFamily="34" charset="0"/>
                  </a:rPr>
                  <a:t>of </a:t>
                </a:r>
                <a:r>
                  <a:rPr lang="en-US" sz="2000" b="1" dirty="0">
                    <a:cs typeface="Arial" panose="020B0604020202020204" pitchFamily="34" charset="0"/>
                  </a:rPr>
                  <a:t>nonce</a:t>
                </a:r>
                <a:r>
                  <a:rPr lang="en-US" sz="2000" dirty="0">
                    <a:cs typeface="Arial" panose="020B0604020202020204" pitchFamily="34" charset="0"/>
                  </a:rPr>
                  <a:t> registers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Total hypothesis search space</a:t>
                </a:r>
                <a:r>
                  <a:rPr lang="en-US" sz="2000" dirty="0"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8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sz="2000" b="1" dirty="0">
                    <a:cs typeface="Arial" panose="020B0604020202020204" pitchFamily="34" charset="0"/>
                  </a:rPr>
                  <a:t>64 </a:t>
                </a:r>
                <a:r>
                  <a:rPr lang="en-US" sz="2000" dirty="0">
                    <a:cs typeface="Arial" panose="020B0604020202020204" pitchFamily="34" charset="0"/>
                  </a:rPr>
                  <a:t>for key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000" b="1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8" y="5062755"/>
                <a:ext cx="12039159" cy="10156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223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Power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6420" y="873238"/>
                <a:ext cx="12039159" cy="7148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Remaining hypothesis</a:t>
                </a:r>
                <a:r>
                  <a:rPr lang="en-US" sz="2000" dirty="0">
                    <a:cs typeface="Arial" panose="020B0604020202020204" pitchFamily="34" charset="0"/>
                  </a:rPr>
                  <a:t> search space: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𝟔𝟒</m:t>
                        </m:r>
                      </m:sup>
                    </m:sSup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for key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2000" b="1" dirty="0">
                  <a:cs typeface="Arial" panose="020B060402020202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cs typeface="Arial" panose="020B0604020202020204" pitchFamily="34" charset="0"/>
                  </a:rPr>
                  <a:t>S-box output with </a:t>
                </a:r>
                <a:r>
                  <a:rPr lang="en-US" sz="2000" b="1" dirty="0">
                    <a:cs typeface="Arial" panose="020B0604020202020204" pitchFamily="34" charset="0"/>
                  </a:rPr>
                  <a:t>non-linear term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US" sz="2000" dirty="0">
                    <a:cs typeface="Arial" panose="020B0604020202020204" pitchFamily="34" charset="0"/>
                  </a:rPr>
                  <a:t>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has a result with a </a:t>
                </a:r>
                <a:r>
                  <a:rPr lang="en-US" sz="2000" b="1" dirty="0">
                    <a:cs typeface="Arial" panose="020B0604020202020204" pitchFamily="34" charset="0"/>
                  </a:rPr>
                  <a:t>quadratic term </a:t>
                </a:r>
                <a:r>
                  <a:rPr lang="en-US" sz="2000" dirty="0">
                    <a:cs typeface="Arial" panose="020B0604020202020204" pitchFamily="34" charset="0"/>
                  </a:rPr>
                  <a:t>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" y="873238"/>
                <a:ext cx="12039159" cy="7148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9898" y="1670891"/>
                <a:ext cx="12112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" y="1670891"/>
                <a:ext cx="12112102" cy="400110"/>
              </a:xfrm>
              <a:prstGeom prst="rect">
                <a:avLst/>
              </a:prstGeom>
              <a:blipFill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6420" y="3176917"/>
                <a:ext cx="12039159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</a:t>
                </a:r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  <a:r>
                  <a:rPr lang="en-US" sz="2000" b="1" dirty="0">
                    <a:cs typeface="Arial" panose="020B0604020202020204" pitchFamily="34" charset="0"/>
                  </a:rPr>
                  <a:t>indistinguishable</a:t>
                </a:r>
                <a:r>
                  <a:rPr lang="en-US" sz="2000" dirty="0">
                    <a:cs typeface="Arial" panose="020B0604020202020204" pitchFamily="34" charset="0"/>
                  </a:rPr>
                  <a:t> due to XOR operation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Merged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bit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𝟏𝟐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⊕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" y="3176917"/>
                <a:ext cx="1203915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7879" y="2632086"/>
                <a:ext cx="1211210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9" y="2632086"/>
                <a:ext cx="12112102" cy="400110"/>
              </a:xfrm>
              <a:prstGeom prst="rect">
                <a:avLst/>
              </a:prstGeom>
              <a:blipFill>
                <a:blip r:embed="rId6"/>
                <a:stretch>
                  <a:fillRect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9898" y="3696080"/>
                <a:ext cx="12112102" cy="1308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1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1"/>
                            </m:r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1"/>
                                </m:r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 </m:t>
                          </m:r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⋙61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⋙39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(1⊕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64+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−61+64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−61+64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64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−61+64 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−39+64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(1⊕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−39+64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)⊕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64+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−39+64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" y="3696080"/>
                <a:ext cx="12112102" cy="1308500"/>
              </a:xfrm>
              <a:prstGeom prst="rect">
                <a:avLst/>
              </a:prstGeom>
              <a:blipFill>
                <a:blip r:embed="rId7"/>
                <a:stretch>
                  <a:fillRect b="-4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DPA Attack on INITIALIZATION Phase of ASCON_AEAD [S16]: Selection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88" y="2110100"/>
            <a:ext cx="1203915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Highlighted in blue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Constant </a:t>
            </a:r>
            <a:r>
              <a:rPr lang="en-US" sz="2000" dirty="0">
                <a:cs typeface="Arial" panose="020B0604020202020204" pitchFamily="34" charset="0"/>
                <a:sym typeface="Wingdings" panose="05000000000000000000" pitchFamily="2" charset="2"/>
              </a:rPr>
              <a:t>register </a:t>
            </a:r>
            <a:r>
              <a:rPr lang="en-US" sz="2000" b="1" dirty="0">
                <a:cs typeface="Arial" panose="020B0604020202020204" pitchFamily="34" charset="0"/>
                <a:sym typeface="Wingdings" panose="05000000000000000000" pitchFamily="2" charset="2"/>
              </a:rPr>
              <a:t>activity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6419" y="5004580"/>
                <a:ext cx="12039159" cy="13234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Effect of diffusion layer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 Selection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𝑺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𝒊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(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𝑵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,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𝑲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to split traces based on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𝒊</m:t>
                    </m:r>
                  </m:oMath>
                </a14:m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-</a:t>
                </a:r>
                <a:r>
                  <a:rPr lang="en-US" sz="2000" b="1" dirty="0" err="1">
                    <a:cs typeface="Arial" panose="020B0604020202020204" pitchFamily="34" charset="0"/>
                    <a:sym typeface="Wingdings" panose="05000000000000000000" pitchFamily="2" charset="2"/>
                  </a:rPr>
                  <a:t>th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bit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register update depends on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3 bits 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of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key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anose="05000000000000000000" pitchFamily="2" charset="2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and </a:t>
                </a:r>
                <a:r>
                  <a:rPr lang="en-US" sz="2000" b="1" dirty="0">
                    <a:cs typeface="Arial" panose="020B0604020202020204" pitchFamily="34" charset="0"/>
                  </a:rPr>
                  <a:t>6 bits </a:t>
                </a:r>
                <a:r>
                  <a:rPr lang="en-US" sz="2000" dirty="0">
                    <a:cs typeface="Arial" panose="020B0604020202020204" pitchFamily="34" charset="0"/>
                  </a:rPr>
                  <a:t>of </a:t>
                </a:r>
                <a:r>
                  <a:rPr lang="en-US" sz="2000" b="1" dirty="0">
                    <a:cs typeface="Arial" panose="020B0604020202020204" pitchFamily="34" charset="0"/>
                  </a:rPr>
                  <a:t>nonce</a:t>
                </a:r>
                <a:r>
                  <a:rPr lang="en-US" sz="2000" dirty="0">
                    <a:cs typeface="Arial" panose="020B0604020202020204" pitchFamily="34" charset="0"/>
                  </a:rPr>
                  <a:t> registers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000" dirty="0"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Total hypothesis search space</a:t>
                </a:r>
                <a:r>
                  <a:rPr lang="en-US" sz="2000" dirty="0"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r>
                  <a:rPr lang="en-US" sz="2000" b="1" dirty="0">
                    <a:cs typeface="Arial" panose="020B0604020202020204" pitchFamily="34" charset="0"/>
                    <a:sym typeface="Wingdings" panose="05000000000000000000" pitchFamily="2" charset="2"/>
                  </a:rPr>
                  <a:t>8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×</m:t>
                    </m:r>
                  </m:oMath>
                </a14:m>
                <a:r>
                  <a:rPr lang="en-US" sz="2000" b="1" dirty="0">
                    <a:cs typeface="Arial" panose="020B0604020202020204" pitchFamily="34" charset="0"/>
                  </a:rPr>
                  <a:t>64 </a:t>
                </a:r>
                <a:r>
                  <a:rPr lang="en-US" sz="2000" dirty="0">
                    <a:cs typeface="Arial" panose="020B0604020202020204" pitchFamily="34" charset="0"/>
                  </a:rPr>
                  <a:t>for merged key register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2000" b="1" dirty="0">
                  <a:cs typeface="Arial" panose="020B060402020202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Recovering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b="1" dirty="0">
                    <a:cs typeface="Arial" panose="020B0604020202020204" pitchFamily="34" charset="0"/>
                  </a:rPr>
                  <a:t> register: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⊕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9" y="5004580"/>
                <a:ext cx="12039159" cy="13234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39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Power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6420" y="873238"/>
                <a:ext cx="12039159" cy="10156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Distinguisher: </a:t>
                </a:r>
                <a:r>
                  <a:rPr lang="en-US" sz="2000" dirty="0">
                    <a:cs typeface="Arial" panose="020B0604020202020204" pitchFamily="34" charset="0"/>
                  </a:rPr>
                  <a:t>Difference of Means (</a:t>
                </a:r>
                <a:r>
                  <a:rPr lang="en-US" sz="2000" b="1" dirty="0" err="1">
                    <a:cs typeface="Arial" panose="020B0604020202020204" pitchFamily="34" charset="0"/>
                  </a:rPr>
                  <a:t>DoM</a:t>
                </a:r>
                <a:r>
                  <a:rPr lang="en-US" sz="2000" dirty="0">
                    <a:cs typeface="Arial" panose="020B0604020202020204" pitchFamily="34" charset="0"/>
                  </a:rPr>
                  <a:t>)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Number of Traces</a:t>
                </a:r>
                <a:r>
                  <a:rPr lang="en-US" sz="2000" dirty="0">
                    <a:cs typeface="Arial" panose="020B0604020202020204" pitchFamily="34" charset="0"/>
                  </a:rPr>
                  <a:t>: </a:t>
                </a:r>
                <a:r>
                  <a:rPr lang="en-US" sz="2000" b="1" dirty="0">
                    <a:cs typeface="Arial" panose="020B0604020202020204" pitchFamily="34" charset="0"/>
                  </a:rPr>
                  <a:t>1M</a:t>
                </a:r>
                <a:r>
                  <a:rPr lang="en-US" sz="2000" dirty="0"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cs typeface="Arial" panose="020B0604020202020204" pitchFamily="34" charset="0"/>
                  </a:rPr>
                  <a:t>Success rate (SR)</a:t>
                </a:r>
                <a:r>
                  <a:rPr lang="en-US" sz="2000" dirty="0"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𝟗𝟔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%</m:t>
                    </m:r>
                  </m:oMath>
                </a14:m>
                <a:r>
                  <a:rPr lang="en-US" sz="2000" b="1" dirty="0"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0" y="873238"/>
                <a:ext cx="12039159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DPA Attack on INITIALIZATION Phase of ASCON_AEAD [S16]: Results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965" y="2051597"/>
            <a:ext cx="5533995" cy="44027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0" y="1876490"/>
            <a:ext cx="5453380" cy="457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6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Power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20" y="873238"/>
            <a:ext cx="12039159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Key idea: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Perform</a:t>
            </a:r>
            <a:r>
              <a:rPr lang="en-US" sz="2000" b="1" dirty="0">
                <a:cs typeface="Arial" panose="020B0604020202020204" pitchFamily="34" charset="0"/>
              </a:rPr>
              <a:t> multiple rounds </a:t>
            </a:r>
            <a:r>
              <a:rPr lang="en-US" sz="2000" dirty="0">
                <a:cs typeface="Arial" panose="020B0604020202020204" pitchFamily="34" charset="0"/>
              </a:rPr>
              <a:t>in each </a:t>
            </a:r>
            <a:r>
              <a:rPr lang="en-US" sz="2000" b="1" dirty="0">
                <a:cs typeface="Arial" panose="020B0604020202020204" pitchFamily="34" charset="0"/>
              </a:rPr>
              <a:t>cycle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Increase </a:t>
            </a:r>
            <a:r>
              <a:rPr lang="en-US" sz="2000" dirty="0">
                <a:cs typeface="Arial" panose="020B0604020202020204" pitchFamily="34" charset="0"/>
              </a:rPr>
              <a:t>hypothesis </a:t>
            </a:r>
            <a:r>
              <a:rPr lang="en-US" sz="2000" b="1" dirty="0">
                <a:cs typeface="Arial" panose="020B0604020202020204" pitchFamily="34" charset="0"/>
              </a:rPr>
              <a:t>search space </a:t>
            </a:r>
            <a:r>
              <a:rPr lang="en-US" sz="2000" dirty="0">
                <a:cs typeface="Arial" panose="020B0604020202020204" pitchFamily="34" charset="0"/>
              </a:rPr>
              <a:t>due to deeper </a:t>
            </a:r>
            <a:r>
              <a:rPr lang="en-US" sz="2000" b="1" dirty="0">
                <a:cs typeface="Arial" panose="020B0604020202020204" pitchFamily="34" charset="0"/>
              </a:rPr>
              <a:t>diffusion of the key</a:t>
            </a:r>
            <a:endParaRPr lang="en-US" sz="2000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Hardware overhead: Doubling </a:t>
            </a:r>
            <a:r>
              <a:rPr lang="en-US" sz="2000" dirty="0">
                <a:cs typeface="Arial" panose="020B0604020202020204" pitchFamily="34" charset="0"/>
              </a:rPr>
              <a:t>of Combinational </a:t>
            </a:r>
            <a:r>
              <a:rPr lang="en-US" sz="2000" dirty="0" err="1">
                <a:cs typeface="Arial" panose="020B0604020202020204" pitchFamily="34" charset="0"/>
              </a:rPr>
              <a:t>datapath</a:t>
            </a:r>
            <a:r>
              <a:rPr lang="en-US" sz="2000" dirty="0">
                <a:cs typeface="Arial" panose="020B0604020202020204" pitchFamily="34" charset="0"/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Performance: Increase </a:t>
            </a:r>
            <a:r>
              <a:rPr lang="en-US" sz="2000" dirty="0">
                <a:cs typeface="Arial" panose="020B0604020202020204" pitchFamily="34" charset="0"/>
              </a:rPr>
              <a:t>in </a:t>
            </a:r>
            <a:r>
              <a:rPr lang="en-US" sz="2000" b="1" dirty="0">
                <a:cs typeface="Arial" panose="020B0604020202020204" pitchFamily="34" charset="0"/>
              </a:rPr>
              <a:t>latency </a:t>
            </a:r>
            <a:r>
              <a:rPr lang="en-US" sz="2000" dirty="0">
                <a:cs typeface="Arial" panose="020B0604020202020204" pitchFamily="34" charset="0"/>
              </a:rPr>
              <a:t>(due to longer critical path), </a:t>
            </a:r>
            <a:r>
              <a:rPr lang="en-US" sz="2000" b="1" dirty="0">
                <a:cs typeface="Arial" panose="020B0604020202020204" pitchFamily="34" charset="0"/>
              </a:rPr>
              <a:t>Increase </a:t>
            </a:r>
            <a:r>
              <a:rPr lang="en-US" sz="2000" dirty="0">
                <a:cs typeface="Arial" panose="020B0604020202020204" pitchFamily="34" charset="0"/>
              </a:rPr>
              <a:t>in</a:t>
            </a:r>
            <a:r>
              <a:rPr lang="en-US" sz="2000" b="1" dirty="0">
                <a:cs typeface="Arial" panose="020B0604020202020204" pitchFamily="34" charset="0"/>
              </a:rPr>
              <a:t> throughput </a:t>
            </a:r>
            <a:r>
              <a:rPr lang="en-US" sz="2000" dirty="0">
                <a:cs typeface="Arial" panose="020B0604020202020204" pitchFamily="34" charset="0"/>
              </a:rPr>
              <a:t>(due to removal of </a:t>
            </a:r>
            <a:r>
              <a:rPr lang="en-US" sz="2000" dirty="0" err="1">
                <a:cs typeface="Arial" panose="020B0604020202020204" pitchFamily="34" charset="0"/>
              </a:rPr>
              <a:t>MUXing</a:t>
            </a:r>
            <a:r>
              <a:rPr lang="en-US" sz="2000" dirty="0">
                <a:cs typeface="Arial" panose="020B0604020202020204" pitchFamily="34" charset="0"/>
              </a:rPr>
              <a:t> logic)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008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DPA Protection: Round unrolled Implementation [BSL+10,M21]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24" y="3478238"/>
            <a:ext cx="11968578" cy="207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8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Power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20" y="873238"/>
            <a:ext cx="12039159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Key idea: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Limit data complexity </a:t>
            </a:r>
            <a:r>
              <a:rPr lang="en-US" sz="2000" dirty="0">
                <a:cs typeface="Arial" panose="020B0604020202020204" pitchFamily="34" charset="0"/>
              </a:rPr>
              <a:t>accessible to attackers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Absorb </a:t>
            </a:r>
            <a:r>
              <a:rPr lang="en-US" sz="2000" b="1" dirty="0">
                <a:cs typeface="Arial" panose="020B0604020202020204" pitchFamily="34" charset="0"/>
              </a:rPr>
              <a:t>one or few bits of nonce </a:t>
            </a:r>
            <a:r>
              <a:rPr lang="en-US" sz="2000" dirty="0">
                <a:cs typeface="Arial" panose="020B0604020202020204" pitchFamily="34" charset="0"/>
              </a:rPr>
              <a:t>at a time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Proposed for </a:t>
            </a:r>
            <a:r>
              <a:rPr lang="en-US" sz="2000" b="1" dirty="0">
                <a:cs typeface="Arial" panose="020B0604020202020204" pitchFamily="34" charset="0"/>
              </a:rPr>
              <a:t>Keccak (SHA-3 </a:t>
            </a:r>
            <a:r>
              <a:rPr lang="en-US" sz="2000" dirty="0">
                <a:cs typeface="Arial" panose="020B0604020202020204" pitchFamily="34" charset="0"/>
              </a:rPr>
              <a:t>candidate</a:t>
            </a:r>
            <a:r>
              <a:rPr lang="en-US" sz="2000" b="1" dirty="0">
                <a:cs typeface="Arial" panose="020B0604020202020204" pitchFamily="34" charset="0"/>
              </a:rPr>
              <a:t>), XOODYAK </a:t>
            </a:r>
            <a:r>
              <a:rPr lang="en-US" sz="2000" dirty="0">
                <a:cs typeface="Arial" panose="020B0604020202020204" pitchFamily="34" charset="0"/>
              </a:rPr>
              <a:t>and</a:t>
            </a:r>
            <a:r>
              <a:rPr lang="en-US" sz="2000" b="1" dirty="0">
                <a:cs typeface="Arial" panose="020B0604020202020204" pitchFamily="34" charset="0"/>
              </a:rPr>
              <a:t> ISAP (LWC candidates)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Hardware overhead: Lowest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Performance overhead: One-time </a:t>
            </a:r>
            <a:r>
              <a:rPr lang="en-US" sz="2000" dirty="0">
                <a:cs typeface="Arial" panose="020B0604020202020204" pitchFamily="34" charset="0"/>
              </a:rPr>
              <a:t>(during INITIALIZATION)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008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DPA Protection: Trickled Nonce Absorption [TS14]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3065007"/>
            <a:ext cx="11833860" cy="29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0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Simple and Differential Fault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20" y="873238"/>
            <a:ext cx="12039159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/>
              </a:rPr>
              <a:t>A </a:t>
            </a:r>
            <a:r>
              <a:rPr lang="en-US" sz="2000" b="1" dirty="0" smtClean="0">
                <a:cs typeface="Arial"/>
              </a:rPr>
              <a:t>random </a:t>
            </a:r>
            <a:r>
              <a:rPr lang="en-US" sz="2000" b="1" dirty="0">
                <a:cs typeface="Arial"/>
              </a:rPr>
              <a:t>fault injection </a:t>
            </a:r>
            <a:r>
              <a:rPr lang="en-US" sz="2000" dirty="0" smtClean="0">
                <a:cs typeface="Arial"/>
              </a:rPr>
              <a:t>is induced </a:t>
            </a:r>
            <a:r>
              <a:rPr lang="en-US" sz="2000" dirty="0">
                <a:cs typeface="Arial"/>
              </a:rPr>
              <a:t>subsequent to the S-box operation in the </a:t>
            </a:r>
            <a:r>
              <a:rPr lang="en-US" sz="2000" dirty="0" smtClean="0">
                <a:cs typeface="Arial"/>
              </a:rPr>
              <a:t>last round of the </a:t>
            </a:r>
            <a:r>
              <a:rPr lang="en-US" sz="2000" b="1" dirty="0" smtClean="0">
                <a:cs typeface="Arial"/>
              </a:rPr>
              <a:t>FINALIZATION</a:t>
            </a:r>
            <a:r>
              <a:rPr lang="en-US" sz="2000" dirty="0" smtClean="0">
                <a:cs typeface="Arial"/>
              </a:rPr>
              <a:t> phase.</a:t>
            </a:r>
            <a:endParaRPr lang="en-US" sz="2000" dirty="0">
              <a:cs typeface="Arial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/>
              </a:rPr>
              <a:t>A random value was </a:t>
            </a:r>
            <a:r>
              <a:rPr lang="en-US" sz="2000" dirty="0" err="1">
                <a:cs typeface="Arial"/>
              </a:rPr>
              <a:t>XOR’ed</a:t>
            </a:r>
            <a:r>
              <a:rPr lang="en-US" sz="2000" dirty="0">
                <a:cs typeface="Arial"/>
              </a:rPr>
              <a:t> with the last two S-box outputs.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/>
              </a:rPr>
              <a:t>Due to the fault injection, the tag results changed for the golden key and nonce value.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/>
              </a:rPr>
              <a:t>In the next </a:t>
            </a:r>
            <a:r>
              <a:rPr lang="en-US" sz="2000" dirty="0" smtClean="0">
                <a:cs typeface="Arial"/>
              </a:rPr>
              <a:t>phase, </a:t>
            </a:r>
            <a:r>
              <a:rPr lang="en-US" sz="2000" dirty="0">
                <a:cs typeface="Arial"/>
              </a:rPr>
              <a:t>we will implement </a:t>
            </a:r>
            <a:r>
              <a:rPr lang="en-US" sz="2000" b="1" dirty="0">
                <a:cs typeface="Arial"/>
              </a:rPr>
              <a:t>Differential Fault Attack </a:t>
            </a:r>
            <a:r>
              <a:rPr lang="en-US" sz="2000" dirty="0">
                <a:cs typeface="Arial"/>
              </a:rPr>
              <a:t>proposed in </a:t>
            </a:r>
            <a:r>
              <a:rPr lang="en-US" sz="2000" b="1" dirty="0">
                <a:cs typeface="Arial"/>
              </a:rPr>
              <a:t>[KPW’19]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C0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Simple Fault Attack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F8A644-07B1-3EF2-C6C8-FC515363A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088" y="2504454"/>
            <a:ext cx="6697539" cy="390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0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Countermeasure for Fault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20" y="873238"/>
            <a:ext cx="12039159" cy="163121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Key idea: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Generate</a:t>
            </a:r>
            <a:r>
              <a:rPr lang="en-US" sz="2000" b="1" dirty="0">
                <a:cs typeface="Arial" panose="020B0604020202020204" pitchFamily="34" charset="0"/>
              </a:rPr>
              <a:t> Interleaved, Even, </a:t>
            </a:r>
            <a:r>
              <a:rPr lang="en-US" sz="2000" dirty="0">
                <a:cs typeface="Arial" panose="020B0604020202020204" pitchFamily="34" charset="0"/>
              </a:rPr>
              <a:t>and</a:t>
            </a:r>
            <a:r>
              <a:rPr lang="en-US" sz="2000" b="1" dirty="0">
                <a:cs typeface="Arial" panose="020B0604020202020204" pitchFamily="34" charset="0"/>
              </a:rPr>
              <a:t> Odd Parity Signatures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Match the</a:t>
            </a:r>
            <a:r>
              <a:rPr lang="en-US" sz="2000" b="1" dirty="0">
                <a:cs typeface="Arial" panose="020B0604020202020204" pitchFamily="34" charset="0"/>
              </a:rPr>
              <a:t> parity signatures </a:t>
            </a:r>
            <a:r>
              <a:rPr lang="en-US" sz="2000" dirty="0">
                <a:cs typeface="Arial" panose="020B0604020202020204" pitchFamily="34" charset="0"/>
              </a:rPr>
              <a:t>with the</a:t>
            </a:r>
            <a:r>
              <a:rPr lang="en-US" sz="2000" b="1" dirty="0">
                <a:cs typeface="Arial" panose="020B0604020202020204" pitchFamily="34" charset="0"/>
              </a:rPr>
              <a:t> corresponding </a:t>
            </a:r>
            <a:r>
              <a:rPr lang="en-US" sz="2000" b="1" dirty="0" smtClean="0">
                <a:cs typeface="Arial" panose="020B0604020202020204" pitchFamily="34" charset="0"/>
              </a:rPr>
              <a:t>S-box </a:t>
            </a:r>
            <a:r>
              <a:rPr lang="en-US" sz="2000" dirty="0">
                <a:cs typeface="Arial" panose="020B0604020202020204" pitchFamily="34" charset="0"/>
              </a:rPr>
              <a:t>input</a:t>
            </a:r>
            <a:r>
              <a:rPr lang="en-US" sz="2000" b="1" dirty="0"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Hardware overhead: Lowest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cs typeface="Arial" panose="020B0604020202020204" pitchFamily="34" charset="0"/>
              </a:rPr>
              <a:t>Performance overhead: Highly Accurate </a:t>
            </a:r>
            <a:r>
              <a:rPr lang="en-US" sz="2000" dirty="0">
                <a:cs typeface="Arial" panose="020B0604020202020204" pitchFamily="34" charset="0"/>
              </a:rPr>
              <a:t>in terms of </a:t>
            </a:r>
            <a:r>
              <a:rPr lang="en-US" sz="2000" b="1" dirty="0">
                <a:cs typeface="Arial" panose="020B0604020202020204" pitchFamily="34" charset="0"/>
              </a:rPr>
              <a:t>error detection.</a:t>
            </a:r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sp>
        <p:nvSpPr>
          <p:cNvPr id="4" name="AutoShape 2" descr="Sbox layer in Ascon sponge stat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5988" y="473128"/>
            <a:ext cx="12046114" cy="400110"/>
          </a:xfrm>
          <a:prstGeom prst="rect">
            <a:avLst/>
          </a:prstGeom>
          <a:solidFill>
            <a:srgbClr val="008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cs typeface="Arial" panose="020B0604020202020204" pitchFamily="34" charset="0"/>
              </a:rPr>
              <a:t>Error Correction Coding based Parity Signature Generation [JMR22]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CD631-EB5C-D862-3C05-3B813D725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0" y="4183811"/>
            <a:ext cx="11844031" cy="225203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4F2873-4760-1585-5E54-55FE79D3E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37" y="2867588"/>
            <a:ext cx="4200643" cy="13162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E5B42C-4CCE-E6DA-623A-1E5EB45D24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476" y="3081378"/>
            <a:ext cx="2840863" cy="873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C2A9F99-F711-785C-FD0E-BA55665B5329}"/>
              </a:ext>
            </a:extLst>
          </p:cNvPr>
          <p:cNvSpPr txBox="1"/>
          <p:nvPr/>
        </p:nvSpPr>
        <p:spPr>
          <a:xfrm>
            <a:off x="1318563" y="2601330"/>
            <a:ext cx="3690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 Implementation of ASCON </a:t>
            </a:r>
            <a:r>
              <a:rPr lang="en-US" dirty="0" err="1"/>
              <a:t>Sbox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258CC2-D32E-743A-B4AD-E3864F2AF478}"/>
              </a:ext>
            </a:extLst>
          </p:cNvPr>
          <p:cNvSpPr txBox="1"/>
          <p:nvPr/>
        </p:nvSpPr>
        <p:spPr>
          <a:xfrm>
            <a:off x="6741702" y="2608250"/>
            <a:ext cx="398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 Implementation of Parity Signatures</a:t>
            </a:r>
          </a:p>
        </p:txBody>
      </p:sp>
    </p:spTree>
    <p:extLst>
      <p:ext uri="{BB962C8B-B14F-4D97-AF65-F5344CB8AC3E}">
        <p14:creationId xmlns:p14="http://schemas.microsoft.com/office/powerpoint/2010/main" val="39195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862655-86B8-98C9-8CB9-4A0CBD3F2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79952"/>
              </p:ext>
            </p:extLst>
          </p:nvPr>
        </p:nvGraphicFramePr>
        <p:xfrm>
          <a:off x="133002" y="462280"/>
          <a:ext cx="11979100" cy="577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4140">
                  <a:extLst>
                    <a:ext uri="{9D8B030D-6E8A-4147-A177-3AD203B41FA5}">
                      <a16:colId xmlns:a16="http://schemas.microsoft.com/office/drawing/2014/main" val="4040959047"/>
                    </a:ext>
                  </a:extLst>
                </a:gridCol>
                <a:gridCol w="10584960">
                  <a:extLst>
                    <a:ext uri="{9D8B030D-6E8A-4147-A177-3AD203B41FA5}">
                      <a16:colId xmlns:a16="http://schemas.microsoft.com/office/drawing/2014/main" val="1381693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[W23]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Witteman</a:t>
                      </a:r>
                      <a:r>
                        <a:rPr lang="en-US" dirty="0"/>
                        <a:t> M.,</a:t>
                      </a:r>
                      <a:r>
                        <a:rPr lang="en-US" baseline="0" dirty="0"/>
                        <a:t> “Security Highlight: </a:t>
                      </a:r>
                      <a:r>
                        <a:rPr lang="en-US" baseline="0" dirty="0" err="1"/>
                        <a:t>Ascon</a:t>
                      </a:r>
                      <a:r>
                        <a:rPr lang="en-US" baseline="0" dirty="0"/>
                        <a:t>”, 2023, URL: </a:t>
                      </a:r>
                      <a:r>
                        <a:rPr lang="en-US" dirty="0">
                          <a:hlinkClick r:id="rId3"/>
                        </a:rPr>
                        <a:t>https://www.riscure.com/security-highlight-ascon/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33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[NIST23]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NIST LWC selection</a:t>
                      </a:r>
                      <a:r>
                        <a:rPr lang="en-US" baseline="0" dirty="0"/>
                        <a:t> announcement, 2023, URL: </a:t>
                      </a:r>
                      <a:r>
                        <a:rPr lang="en-US" baseline="0" dirty="0">
                          <a:hlinkClick r:id="rId4"/>
                        </a:rPr>
                        <a:t>https://csrc.nist.gov/News/2023/lightweight-cryptography-nist-selects-ascon</a:t>
                      </a:r>
                      <a:r>
                        <a:rPr lang="en-US" baseline="0" dirty="0"/>
                        <a:t>, </a:t>
                      </a:r>
                      <a:r>
                        <a:rPr lang="en-US" baseline="0" dirty="0">
                          <a:hlinkClick r:id="rId5"/>
                        </a:rPr>
                        <a:t>https://www.nist.gov/news-events/news/2023/02/nist-selects-lightweight-cryptography-algorithms-protect-small-devices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23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[NIST18]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NIST Call for LWC, 2018, URL: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>
                          <a:hlinkClick r:id="rId6"/>
                        </a:rPr>
                        <a:t>https://www.nist.gov/news-events/news/2018/04/nist-issues-first-call-lightweight-cryptography-protect-small-electronics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3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[Rambus23]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ASCON</a:t>
                      </a:r>
                      <a:r>
                        <a:rPr lang="en-US" baseline="0" dirty="0"/>
                        <a:t> IP from Rambus, 2023, URL: </a:t>
                      </a:r>
                      <a:r>
                        <a:rPr lang="en-US" baseline="0" dirty="0">
                          <a:hlinkClick r:id="rId7"/>
                        </a:rPr>
                        <a:t>https://www.rambus.com/blogs/rambus-ip-solution-supports-new-nist-lightweight-cryptography-algorithm/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31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[HN23]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HackerNews</a:t>
                      </a:r>
                      <a:r>
                        <a:rPr lang="en-US" dirty="0"/>
                        <a:t>,</a:t>
                      </a:r>
                      <a:r>
                        <a:rPr lang="en-US" baseline="0" dirty="0"/>
                        <a:t> 2023, URL: </a:t>
                      </a:r>
                      <a:r>
                        <a:rPr lang="en-US" baseline="0" dirty="0">
                          <a:hlinkClick r:id="rId8"/>
                        </a:rPr>
                        <a:t>https://thehackernews.com/2023/02/nist-standardizes-ascon-cryptographic.html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4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[ASCON21]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ASCON final specification, URL: </a:t>
                      </a:r>
                      <a:r>
                        <a:rPr lang="en-US" dirty="0">
                          <a:hlinkClick r:id="rId9"/>
                        </a:rPr>
                        <a:t>https://ascon.iaik.tugraz.at/specification.html</a:t>
                      </a:r>
                      <a:r>
                        <a:rPr lang="en-US" dirty="0"/>
                        <a:t> , </a:t>
                      </a:r>
                    </a:p>
                    <a:p>
                      <a:pPr algn="just"/>
                      <a:r>
                        <a:rPr lang="en-US" dirty="0">
                          <a:hlinkClick r:id="rId10"/>
                        </a:rPr>
                        <a:t>https://csrc.nist.gov/CSRC/media/Projects/lightweight-cryptography/documents/finalist-round/updated-spec-doc/ascon-spec-final.pdf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9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[B19]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Buchanan B.,</a:t>
                      </a:r>
                      <a:r>
                        <a:rPr lang="en-US" baseline="0" dirty="0"/>
                        <a:t> “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of the greatest advancements in Cybersecurity: The Sponge Function (Keccak, SHAKE and ASCON)”,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2019, URL: 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1"/>
                        </a:rPr>
                        <a:t>https://medium.com/asecuritysite-when-bob-met-alice/one-of-the-greatest-advancements-in-cybersecurity-the-sponge-function-keccak-and-shake-6e6c8e298682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73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[Keccak]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URL: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2"/>
                        </a:rPr>
                        <a:t>https://keccak.team/</a:t>
                      </a:r>
                      <a:endParaRPr lang="en-US" sz="18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0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[T22]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Tezcan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C., “ASCON Authenticated Encryption Scheme”, 2022, URL:  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3"/>
                        </a:rPr>
                        <a:t>https://www.youtube.com/watch?v=YIjiTB9ZxYw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15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35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862655-86B8-98C9-8CB9-4A0CBD3F2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290775"/>
              </p:ext>
            </p:extLst>
          </p:nvPr>
        </p:nvGraphicFramePr>
        <p:xfrm>
          <a:off x="133002" y="462280"/>
          <a:ext cx="11979100" cy="5679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4140">
                  <a:extLst>
                    <a:ext uri="{9D8B030D-6E8A-4147-A177-3AD203B41FA5}">
                      <a16:colId xmlns:a16="http://schemas.microsoft.com/office/drawing/2014/main" val="4040959047"/>
                    </a:ext>
                  </a:extLst>
                </a:gridCol>
                <a:gridCol w="10584960">
                  <a:extLst>
                    <a:ext uri="{9D8B030D-6E8A-4147-A177-3AD203B41FA5}">
                      <a16:colId xmlns:a16="http://schemas.microsoft.com/office/drawing/2014/main" val="1381693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[SP21]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Steinegger</a:t>
                      </a:r>
                      <a:r>
                        <a:rPr lang="en-US" dirty="0"/>
                        <a:t>, S., &amp; </a:t>
                      </a:r>
                      <a:r>
                        <a:rPr lang="en-US" dirty="0" err="1"/>
                        <a:t>Primas</a:t>
                      </a:r>
                      <a:r>
                        <a:rPr lang="en-US" dirty="0"/>
                        <a:t>, R. (2021, January). A fast and compact RISC-V accelerator for </a:t>
                      </a:r>
                      <a:r>
                        <a:rPr lang="en-US" dirty="0" err="1"/>
                        <a:t>ascon</a:t>
                      </a:r>
                      <a:r>
                        <a:rPr lang="en-US" dirty="0"/>
                        <a:t> and friends. In Smart Card Research and Advanced Applications: 19th International Conference, CARDIS 2020, Virtual Event, November 18–19, 2020, Revised Selected Papers (pp. 53-67). Cham: Springer International Publishing.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URL: </a:t>
                      </a:r>
                      <a:r>
                        <a:rPr lang="en-US" dirty="0">
                          <a:hlinkClick r:id="rId3"/>
                        </a:rPr>
                        <a:t>https://www.youtube.com/watch?v=rC4Ib6T-qm4</a:t>
                      </a:r>
                      <a:r>
                        <a:rPr lang="en-US" dirty="0"/>
                        <a:t> ,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https://github.com/Steinegger/riscv_asconp_accelerator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33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[P22]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Primas</a:t>
                      </a:r>
                      <a:r>
                        <a:rPr lang="en-US" dirty="0"/>
                        <a:t>, R., 2022, URL: </a:t>
                      </a:r>
                      <a:r>
                        <a:rPr lang="en-US" dirty="0">
                          <a:hlinkClick r:id="rId5"/>
                        </a:rPr>
                        <a:t>https://github.com/ascon/ascon-hardware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23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[RD22]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Rezvani</a:t>
                      </a:r>
                      <a:r>
                        <a:rPr lang="en-US" dirty="0"/>
                        <a:t>, B., Diehl W., 2022, URL: </a:t>
                      </a:r>
                      <a:r>
                        <a:rPr lang="en-US" dirty="0">
                          <a:hlinkClick r:id="rId6"/>
                        </a:rPr>
                        <a:t>https://github.com/vtsal/ascon_lwc_aead_hash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3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[NGK22]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Nagpal</a:t>
                      </a:r>
                      <a:r>
                        <a:rPr lang="en-US" dirty="0"/>
                        <a:t>, R., </a:t>
                      </a:r>
                      <a:r>
                        <a:rPr lang="en-US" dirty="0" err="1"/>
                        <a:t>Gaj</a:t>
                      </a:r>
                      <a:r>
                        <a:rPr lang="en-US" dirty="0"/>
                        <a:t>, K., </a:t>
                      </a:r>
                      <a:r>
                        <a:rPr lang="en-US" dirty="0" err="1"/>
                        <a:t>Kaps</a:t>
                      </a:r>
                      <a:r>
                        <a:rPr lang="en-US" dirty="0"/>
                        <a:t>, J.P., 2022, </a:t>
                      </a:r>
                    </a:p>
                    <a:p>
                      <a:pPr algn="l"/>
                      <a:r>
                        <a:rPr lang="en-US" dirty="0"/>
                        <a:t>URL:</a:t>
                      </a:r>
                      <a:r>
                        <a:rPr lang="en-US" baseline="0" dirty="0"/>
                        <a:t>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https://github.com/GMUCERG/Ascon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31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[MGK22]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Mohajerani</a:t>
                      </a:r>
                      <a:r>
                        <a:rPr lang="en-US" dirty="0"/>
                        <a:t>, K., </a:t>
                      </a:r>
                      <a:r>
                        <a:rPr lang="en-US" dirty="0" err="1"/>
                        <a:t>Gaj</a:t>
                      </a:r>
                      <a:r>
                        <a:rPr lang="en-US" dirty="0"/>
                        <a:t>, K., </a:t>
                      </a:r>
                      <a:r>
                        <a:rPr lang="en-US" dirty="0" err="1"/>
                        <a:t>Kaps</a:t>
                      </a:r>
                      <a:r>
                        <a:rPr lang="en-US" dirty="0"/>
                        <a:t>, J.P., 2022, </a:t>
                      </a:r>
                    </a:p>
                    <a:p>
                      <a:r>
                        <a:rPr lang="en-US" dirty="0"/>
                        <a:t>URL: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https://github.com/kammoh/bluelight/tree/api3/Ascon</a:t>
                      </a:r>
                      <a:r>
                        <a:rPr lang="en-US" sz="18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4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[GWD+15]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Gross, H., Wenger, E., Dobraunig, C., &amp; </a:t>
                      </a:r>
                      <a:r>
                        <a:rPr lang="en-US" dirty="0" err="1"/>
                        <a:t>Ehrenhöfer</a:t>
                      </a:r>
                      <a:r>
                        <a:rPr lang="en-US" dirty="0"/>
                        <a:t>, C. (2015, August). Suit up!--Made-to-Measure Hardware Implementations of ASCON. In 2015 </a:t>
                      </a:r>
                      <a:r>
                        <a:rPr lang="en-US" dirty="0" err="1"/>
                        <a:t>Euromicro</a:t>
                      </a:r>
                      <a:r>
                        <a:rPr lang="en-US" dirty="0"/>
                        <a:t> Conference on Digital System Design (pp. 645-652). IEEE. URL:</a:t>
                      </a:r>
                    </a:p>
                    <a:p>
                      <a:pPr algn="just"/>
                      <a:r>
                        <a:rPr lang="en-US" dirty="0">
                          <a:hlinkClick r:id="rId9"/>
                        </a:rPr>
                        <a:t>https://github.com/IAIK/ascon_hardware/tree/master/caesar_hardware_api_v_1_0_3/ASCON_ASCON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9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[KKA21]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Kaur, J.,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Kermani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 M., &amp;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Azarderakhsh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R. (2021). Hardware constructions for error detection in lightweight authenticated cipher ASCON benchmarked on FPGA. IEEE Transactions on Circuits and Systems II: Express Briefs, 69(4), 2276-2280.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733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[KHK+17]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Kumar, S., Haj-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Yahya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J.,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Khairallah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Elmohr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M. A., &amp; Chattopadhyay, A. (2017). A comprehensive performance analysis of hardware implementations of CAESAR candidates. Cryptology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ePrint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Archive.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0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431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206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7AFA3B-A1FA-2653-35E8-66F19EC6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b="1"/>
              <a:t>Team JayHackers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862655-86B8-98C9-8CB9-4A0CBD3F2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098524"/>
              </p:ext>
            </p:extLst>
          </p:nvPr>
        </p:nvGraphicFramePr>
        <p:xfrm>
          <a:off x="133002" y="462280"/>
          <a:ext cx="11979100" cy="5695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4140">
                  <a:extLst>
                    <a:ext uri="{9D8B030D-6E8A-4147-A177-3AD203B41FA5}">
                      <a16:colId xmlns:a16="http://schemas.microsoft.com/office/drawing/2014/main" val="4040959047"/>
                    </a:ext>
                  </a:extLst>
                </a:gridCol>
                <a:gridCol w="10584960">
                  <a:extLst>
                    <a:ext uri="{9D8B030D-6E8A-4147-A177-3AD203B41FA5}">
                      <a16:colId xmlns:a16="http://schemas.microsoft.com/office/drawing/2014/main" val="1381693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[GIB18]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Groß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H.,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Iusupov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R., &amp;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Bloem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R. (2018). Generic low-latency masking in hardware. </a:t>
                      </a: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IACR transactions on cryptographic hardware and embedded systems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1-21.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433115"/>
                  </a:ext>
                </a:extLst>
              </a:tr>
              <a:tr h="387075">
                <a:tc>
                  <a:txBody>
                    <a:bodyPr/>
                    <a:lstStyle/>
                    <a:p>
                      <a:pPr algn="just"/>
                      <a:r>
                        <a:rPr lang="en-US" b="1" dirty="0"/>
                        <a:t>[GM18]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Groß</a:t>
                      </a:r>
                      <a:r>
                        <a:rPr lang="en-US" dirty="0"/>
                        <a:t>, H., &amp; </a:t>
                      </a:r>
                      <a:r>
                        <a:rPr lang="en-US" dirty="0" err="1"/>
                        <a:t>Mangard</a:t>
                      </a:r>
                      <a:r>
                        <a:rPr lang="en-US" dirty="0"/>
                        <a:t>, S. (2018). A unified masking approach. Journal of cryptographic engineering, 8, 109-124.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237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[S16]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Samwel</a:t>
                      </a:r>
                      <a:r>
                        <a:rPr lang="en-US" dirty="0"/>
                        <a:t>, N. (2016). Side-Channel Analysis of Keccak and </a:t>
                      </a:r>
                      <a:r>
                        <a:rPr lang="en-US" dirty="0" err="1"/>
                        <a:t>Ascon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739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[TS14]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Taha</a:t>
                      </a:r>
                      <a:r>
                        <a:rPr lang="en-US" dirty="0"/>
                        <a:t>, M., &amp; </a:t>
                      </a:r>
                      <a:r>
                        <a:rPr lang="en-US" dirty="0" err="1"/>
                        <a:t>Schaumont</a:t>
                      </a:r>
                      <a:r>
                        <a:rPr lang="en-US" dirty="0"/>
                        <a:t>, P. (2014, May). Side-channel countermeasure for SHA-3 at almost-zero area overhead. In 2014 IEEE International Symposium on Hardware-Oriented Security and Trust (HOST) (pp. 93-96). IEEE.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31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[M20]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Moos, T. (2020). Unrolled cryptography on silicon: a physical security analysis. IACR Transactions on Cryptographic Hardware and Embedded Systems, 416-442.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47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[BSL+10]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/>
                        <a:t>Bhasin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Shivam</a:t>
                      </a:r>
                      <a:r>
                        <a:rPr lang="en-US" dirty="0"/>
                        <a:t>, Sylvain </a:t>
                      </a:r>
                      <a:r>
                        <a:rPr lang="en-US" dirty="0" err="1"/>
                        <a:t>Guilley</a:t>
                      </a:r>
                      <a:r>
                        <a:rPr lang="en-US" dirty="0"/>
                        <a:t>, Laurent </a:t>
                      </a:r>
                      <a:r>
                        <a:rPr lang="en-US" dirty="0" err="1"/>
                        <a:t>Sauvage</a:t>
                      </a:r>
                      <a:r>
                        <a:rPr lang="en-US" dirty="0"/>
                        <a:t>, and Jean-Luc Danger. "Unrolling cryptographic circuits: A simple countermeasure against side-channel attacks." In Topics in Cryptology-CT-RSA 2010: The Cryptographers’ Track at the RSA Conference 2010, San Francisco, CA, USA, March 1-5, 2010. Proceedings, pp. 195-207. Springer Berlin Heidelberg, 2010.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99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[JMR22]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J. Kaur, M. </a:t>
                      </a:r>
                      <a:r>
                        <a:rPr lang="en-US" dirty="0" err="1"/>
                        <a:t>Mozaffari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Kermani</a:t>
                      </a:r>
                      <a:r>
                        <a:rPr lang="en-US" dirty="0"/>
                        <a:t> and R. </a:t>
                      </a:r>
                      <a:r>
                        <a:rPr lang="en-US" dirty="0" err="1"/>
                        <a:t>Azarderakhsh</a:t>
                      </a:r>
                      <a:r>
                        <a:rPr lang="en-US" dirty="0"/>
                        <a:t>, "Hardware Constructions for Error Detection in Lightweight Authenticated Cipher ASCON Benchmarked on FPGA," in IEEE Transactions on Circuits and Systems II: Express Briefs, vol. 69, no. 4, pp. 2276-2280, April 2022, </a:t>
                      </a:r>
                      <a:r>
                        <a:rPr lang="en-US" dirty="0" err="1"/>
                        <a:t>doi</a:t>
                      </a:r>
                      <a:r>
                        <a:rPr lang="en-US" dirty="0"/>
                        <a:t>: 10.1109/TCSII.2021.3136463.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440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[KPQ19]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K. </a:t>
                      </a:r>
                      <a:r>
                        <a:rPr lang="en-US" dirty="0" err="1"/>
                        <a:t>Ramezanpour</a:t>
                      </a:r>
                      <a:r>
                        <a:rPr lang="en-US" dirty="0"/>
                        <a:t>, P. </a:t>
                      </a:r>
                      <a:r>
                        <a:rPr lang="en-US" dirty="0" err="1"/>
                        <a:t>Ampadu</a:t>
                      </a:r>
                      <a:r>
                        <a:rPr lang="en-US" dirty="0"/>
                        <a:t> and W. Diehl, "A Statistical Fault Analysis Methodology for the Ascon Authenticated Cipher," 2019 IEEE International Symposium on Hardware Oriented Security and Trust (HOST), McLean, VA, USA, 2019, pp. 41-50, </a:t>
                      </a:r>
                      <a:r>
                        <a:rPr lang="en-US" dirty="0" err="1"/>
                        <a:t>doi</a:t>
                      </a:r>
                      <a:r>
                        <a:rPr lang="en-US" dirty="0"/>
                        <a:t>: 10.1109/HST.2019.8741029.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145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6142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Berlin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53391</TotalTime>
  <Words>1347</Words>
  <Application>Microsoft Office PowerPoint</Application>
  <PresentationFormat>Widescreen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Cambria Math</vt:lpstr>
      <vt:lpstr>Trebuchet MS</vt:lpstr>
      <vt:lpstr>Tw Cen MT</vt:lpstr>
      <vt:lpstr>Tw Cen MT Condensed</vt:lpstr>
      <vt:lpstr>Wingdings</vt:lpstr>
      <vt:lpstr>Wingdings 3</vt:lpstr>
      <vt:lpstr>Integral</vt:lpstr>
      <vt:lpstr>Berlin</vt:lpstr>
      <vt:lpstr>Team JayHackers  Tanvir Hossain Mahmudul Hasan Anupam Golder Zachary J Ellis Arijit Raychowdhury Tamzidul Hoque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ODE</dc:title>
  <dc:creator>Windows User</dc:creator>
  <cp:lastModifiedBy>Anupam Golder</cp:lastModifiedBy>
  <cp:revision>1510</cp:revision>
  <dcterms:created xsi:type="dcterms:W3CDTF">2020-03-29T04:22:51Z</dcterms:created>
  <dcterms:modified xsi:type="dcterms:W3CDTF">2023-03-16T04:41:07Z</dcterms:modified>
</cp:coreProperties>
</file>